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005840"/>
            <a:ext cx="73152" cy="30175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144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SepsisGuard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AI-Powered Sepsis Detection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85800" y="2880360"/>
            <a:ext cx="4389120" cy="438912"/>
          </a:xfrm>
          <a:prstGeom prst="rect">
            <a:avLst/>
          </a:prstGeom>
          <a:solidFill>
            <a:srgbClr val="0D1F3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88036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Confluent Cloud  |  Hackathon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3520440"/>
            <a:ext cx="7772400" cy="594360"/>
          </a:xfrm>
          <a:prstGeom prst="rect">
            <a:avLst/>
          </a:prstGeom>
          <a:solidFill>
            <a:srgbClr val="15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5204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270,000 Americans die from sepsis annually  —  every hour of delay increases mortality by 7%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ICU Monitoring 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2286000" cy="27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64008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914400"/>
            <a:ext cx="8138160" cy="1005840"/>
          </a:xfrm>
          <a:prstGeom prst="rect">
            <a:avLst/>
          </a:prstGeom>
          <a:solidFill>
            <a:srgbClr val="0D1F3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051560"/>
            <a:ext cx="502920" cy="502920"/>
          </a:xfrm>
          <a:prstGeom prst="rect">
            <a:avLst/>
          </a:prstGeom>
          <a:solidFill>
            <a:srgbClr val="3B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61872" y="100584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 checked every 4 hours — sepsis strikes in minutes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61872" y="1417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 creates dangerous blind spots during rapid deterioration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64008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148840"/>
            <a:ext cx="8138160" cy="1005840"/>
          </a:xfrm>
          <a:prstGeom prst="rect">
            <a:avLst/>
          </a:prstGeom>
          <a:solidFill>
            <a:srgbClr val="0D1F3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286000"/>
            <a:ext cx="502920" cy="502920"/>
          </a:xfrm>
          <a:prstGeom prst="rect">
            <a:avLst/>
          </a:prstGeom>
          <a:solidFill>
            <a:srgbClr val="3B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61872" y="22402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systems — no real-time cross-signal correlation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61872" y="2651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HR, BP, SpO₂, lactate sit in separate systems with no unified risk signal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64008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383280"/>
            <a:ext cx="8138160" cy="1005840"/>
          </a:xfrm>
          <a:prstGeom prst="rect">
            <a:avLst/>
          </a:prstGeom>
          <a:solidFill>
            <a:srgbClr val="0D1F3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520440"/>
            <a:ext cx="502920" cy="502920"/>
          </a:xfrm>
          <a:prstGeom prst="rect">
            <a:avLst/>
          </a:prstGeom>
          <a:solidFill>
            <a:srgbClr val="3B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61872" y="34747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Nurses monitor 6+ patients — critical deterioration missed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61872" y="3886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overload means subtle early-warning signs go unnoticed until crisis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141F1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qSOFA score ≥2 = high sepsis risk  —  currently detected too late with manual spot checks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SepsisGuard: Real-Time Sepsis Intelligence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Confluent Stream Processing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60520" cy="1783080"/>
          </a:xfrm>
          <a:prstGeom prst="rect">
            <a:avLst/>
          </a:prstGeom>
          <a:solidFill>
            <a:srgbClr val="0D1F3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41605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16152"/>
            <a:ext cx="457200" cy="457200"/>
          </a:xfrm>
          <a:prstGeom prst="rect">
            <a:avLst/>
          </a:prstGeom>
          <a:solidFill>
            <a:srgbClr val="0D1F38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2161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Vitals Streaming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9164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ICU patients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vital signs tracked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every 4 seconds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Kafka producer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28032" y="1051560"/>
            <a:ext cx="4160520" cy="1783080"/>
          </a:xfrm>
          <a:prstGeom prst="rect">
            <a:avLst/>
          </a:prstGeom>
          <a:solidFill>
            <a:srgbClr val="0D1F3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051560"/>
            <a:ext cx="4160520" cy="502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10912" y="1216152"/>
            <a:ext cx="457200" cy="457200"/>
          </a:xfrm>
          <a:prstGeom prst="rect">
            <a:avLst/>
          </a:prstGeom>
          <a:solidFill>
            <a:srgbClr val="0D1F38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912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05272" y="12161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Scoring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05272" y="169164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qSOFA clinical scoring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SIRS augmented algorithm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 continuous risk scale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alerts &lt;100ms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990088"/>
            <a:ext cx="4160520" cy="1783080"/>
          </a:xfrm>
          <a:prstGeom prst="rect">
            <a:avLst/>
          </a:prstGeom>
          <a:solidFill>
            <a:srgbClr val="0D1F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90088"/>
            <a:ext cx="416052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solidFill>
            <a:srgbClr val="0D1F3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3154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Alerting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630168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push to dashboard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sorted by risk level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Sparkline vitals history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28032" y="2990088"/>
            <a:ext cx="4160520" cy="1783080"/>
          </a:xfrm>
          <a:prstGeom prst="rect">
            <a:avLst/>
          </a:prstGeom>
          <a:solidFill>
            <a:srgbClr val="0D1F3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28032" y="2990088"/>
            <a:ext cx="416052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10912" y="3154680"/>
            <a:ext cx="457200" cy="457200"/>
          </a:xfrm>
          <a:prstGeom prst="rect">
            <a:avLst/>
          </a:prstGeom>
          <a:solidFill>
            <a:srgbClr val="0D1F38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05272" y="3154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Governance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05272" y="3630168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Registry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compatibility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evolution ready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 tracking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Confluent Cloud — End to End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132320" y="91440"/>
            <a:ext cx="1691640" cy="384048"/>
          </a:xfrm>
          <a:prstGeom prst="rect">
            <a:avLst/>
          </a:prstGeom>
          <a:solidFill>
            <a:srgbClr val="141F2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0" y="914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 Cloud / GCP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77240"/>
            <a:ext cx="2359152" cy="713232"/>
          </a:xfrm>
          <a:prstGeom prst="rect">
            <a:avLst/>
          </a:prstGeom>
          <a:solidFill>
            <a:srgbClr val="0C2035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777240"/>
            <a:ext cx="2359152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868680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Producer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2648" y="1179576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Vitals Generator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392424" y="777240"/>
            <a:ext cx="2359152" cy="713232"/>
          </a:xfrm>
          <a:prstGeom prst="rect">
            <a:avLst/>
          </a:prstGeom>
          <a:solidFill>
            <a:srgbClr val="2D1B69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92424" y="777240"/>
            <a:ext cx="2359152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2152" y="868680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icu-vitals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02152" y="1179576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Topic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81928" y="777240"/>
            <a:ext cx="2359152" cy="713232"/>
          </a:xfrm>
          <a:prstGeom prst="rect">
            <a:avLst/>
          </a:prstGeom>
          <a:solidFill>
            <a:srgbClr val="0C2035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81928" y="777240"/>
            <a:ext cx="2359152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91656" y="868680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Processor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91656" y="1179576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 Scorer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281928" y="2743200"/>
            <a:ext cx="2359152" cy="713232"/>
          </a:xfrm>
          <a:prstGeom prst="rect">
            <a:avLst/>
          </a:prstGeom>
          <a:solidFill>
            <a:srgbClr val="2D1B69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81928" y="2743200"/>
            <a:ext cx="2359152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1656" y="2834640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sepsis-alerts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91656" y="3145536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Topic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92424" y="2743200"/>
            <a:ext cx="2359152" cy="713232"/>
          </a:xfrm>
          <a:prstGeom prst="rect">
            <a:avLst/>
          </a:prstGeom>
          <a:solidFill>
            <a:srgbClr val="0C2035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92424" y="2743200"/>
            <a:ext cx="2359152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02152" y="2834640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02152" y="3145536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Group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2743200"/>
            <a:ext cx="2359152" cy="713232"/>
          </a:xfrm>
          <a:prstGeom prst="rect">
            <a:avLst/>
          </a:prstGeom>
          <a:solidFill>
            <a:srgbClr val="0C2035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2743200"/>
            <a:ext cx="2359152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" y="2834640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2648" y="3145536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Client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862072" y="1115568"/>
            <a:ext cx="50292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18104" y="978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</a:rPr>
              <a:t>▶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751576" y="1115568"/>
            <a:ext cx="50292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07608" y="978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</a:rPr>
              <a:t>▶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61504" y="1490472"/>
            <a:ext cx="0" cy="1252728"/>
          </a:xfrm>
          <a:prstGeom prst="line">
            <a:avLst/>
          </a:prstGeom>
          <a:noFill/>
          <a:ln w="19050">
            <a:solidFill>
              <a:srgbClr val="475569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7324344" y="2542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▼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751576" y="3081528"/>
            <a:ext cx="50292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97296" y="2944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</a:rPr>
              <a:t>◄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862072" y="3081528"/>
            <a:ext cx="50292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07792" y="2944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</a:rPr>
              <a:t>◄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2920" y="1581912"/>
            <a:ext cx="2359152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" y="1655064"/>
            <a:ext cx="21396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confluent-kafka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vital signs / event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4s interval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delivery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392424" y="1581912"/>
            <a:ext cx="2359152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02152" y="1655064"/>
            <a:ext cx="21396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partitions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governed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compat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us-east1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281928" y="1581912"/>
            <a:ext cx="2359152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91656" y="1655064"/>
            <a:ext cx="21396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group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qSOFA + SIRS scoring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enrichment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to alerts topic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281928" y="3566160"/>
            <a:ext cx="2359152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91656" y="3639312"/>
            <a:ext cx="21396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partitions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 + score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flags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governed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392424" y="3566160"/>
            <a:ext cx="2359152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02152" y="3639312"/>
            <a:ext cx="21396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group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broadcast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&lt;100ms latency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state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02920" y="3566160"/>
            <a:ext cx="2359152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2648" y="3639312"/>
            <a:ext cx="21396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patients live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charts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sidebar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panel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Governance with Confluent Schema Registry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2651760" cy="4160520"/>
          </a:xfrm>
          <a:prstGeom prst="rect">
            <a:avLst/>
          </a:prstGeom>
          <a:solidFill>
            <a:srgbClr val="0D1F38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77240"/>
            <a:ext cx="2651760" cy="502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412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Registry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1463040"/>
            <a:ext cx="73152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for icu-vitals-value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" y="1965960"/>
            <a:ext cx="73152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745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for sepsis-alerts-value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0352" y="2468880"/>
            <a:ext cx="73152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37744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compatibility enforced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" y="2971800"/>
            <a:ext cx="73152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88036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evolution: add fields without breaking consumers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" y="3474720"/>
            <a:ext cx="73152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3832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required fields validated per vitals event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0352" y="3977640"/>
            <a:ext cx="73152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8862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required fields validated per alert event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10712" y="777240"/>
            <a:ext cx="2651760" cy="4160520"/>
          </a:xfrm>
          <a:prstGeom prst="rect">
            <a:avLst/>
          </a:prstGeom>
          <a:solidFill>
            <a:srgbClr val="0D1F38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10712" y="777240"/>
            <a:ext cx="265176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8412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 APIs Used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575304" y="1463040"/>
            <a:ext cx="73152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30752" y="13716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API (idempotent vitals ingestion)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75304" y="1965960"/>
            <a:ext cx="73152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30752" y="18745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Group API (processor + backend)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75304" y="2468880"/>
            <a:ext cx="73152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30752" y="237744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API (topic mgmt &amp; E2E verification)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575304" y="2971800"/>
            <a:ext cx="73152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30752" y="288036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Consumer (stream processing)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75304" y="3474720"/>
            <a:ext cx="73152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30752" y="33832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bridge (real-time delivery)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575304" y="3977640"/>
            <a:ext cx="73152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30752" y="38862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Registry REST API (governance)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55664" y="777240"/>
            <a:ext cx="2651760" cy="4160520"/>
          </a:xfrm>
          <a:prstGeom prst="rect">
            <a:avLst/>
          </a:prstGeom>
          <a:solidFill>
            <a:srgbClr val="0D1F3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55664" y="777240"/>
            <a:ext cx="26517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92824" y="8412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Governance Rules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620256" y="1463040"/>
            <a:ext cx="731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75704" y="13716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 enforcement on every event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20256" y="1965960"/>
            <a:ext cx="731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75704" y="18745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producer (exactly-once delivery)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620256" y="2468880"/>
            <a:ext cx="731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75704" y="237744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group isolation: processor vs backend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620256" y="2971800"/>
            <a:ext cx="731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75704" y="288036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management (auto.offset.reset=latest)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620256" y="3474720"/>
            <a:ext cx="731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75704" y="33832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SASL/SSL authentication on all connections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620256" y="3977640"/>
            <a:ext cx="731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75704" y="38862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partitioning: 3 partitions per topic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Live on Confluent Cloud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5212080" cy="566928"/>
          </a:xfrm>
          <a:prstGeom prst="rect">
            <a:avLst/>
          </a:prstGeom>
          <a:solidFill>
            <a:srgbClr val="0D1F3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" y="905256"/>
            <a:ext cx="365760" cy="365760"/>
          </a:xfrm>
          <a:prstGeom prst="rect">
            <a:avLst/>
          </a:prstGeom>
          <a:solidFill>
            <a:srgbClr val="0A2A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905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8412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connectivity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09728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pkc-619z3.us-east1.gcp.confluent.cloud:9092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5212080" cy="566928"/>
          </a:xfrm>
          <a:prstGeom prst="rect">
            <a:avLst/>
          </a:prstGeom>
          <a:solidFill>
            <a:srgbClr val="0D1F3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563624"/>
            <a:ext cx="365760" cy="365760"/>
          </a:xfrm>
          <a:prstGeom prst="rect">
            <a:avLst/>
          </a:prstGeom>
          <a:solidFill>
            <a:srgbClr val="0A2A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563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14996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icu-vitals topic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175564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partitions — 13 messages received in 8s window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121408"/>
            <a:ext cx="5212080" cy="566928"/>
          </a:xfrm>
          <a:prstGeom prst="rect">
            <a:avLst/>
          </a:prstGeom>
          <a:solidFill>
            <a:srgbClr val="0D1F3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2221992"/>
            <a:ext cx="365760" cy="365760"/>
          </a:xfrm>
          <a:prstGeom prst="rect">
            <a:avLst/>
          </a:prstGeom>
          <a:solidFill>
            <a:srgbClr val="0A2A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221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21579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sepsis-alerts topic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1401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partitions — 10 messages received in 8s window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779776"/>
            <a:ext cx="5212080" cy="566928"/>
          </a:xfrm>
          <a:prstGeom prst="rect">
            <a:avLst/>
          </a:prstGeom>
          <a:solidFill>
            <a:srgbClr val="0D1F3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880360"/>
            <a:ext cx="365760" cy="365760"/>
          </a:xfrm>
          <a:prstGeom prst="rect">
            <a:avLst/>
          </a:prstGeom>
          <a:solidFill>
            <a:srgbClr val="0A2A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28163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latency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307238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→ Dashboard in under 100ms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438144"/>
            <a:ext cx="5212080" cy="566928"/>
          </a:xfrm>
          <a:prstGeom prst="rect">
            <a:avLst/>
          </a:prstGeom>
          <a:solidFill>
            <a:srgbClr val="0D1F3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3538728"/>
            <a:ext cx="365760" cy="365760"/>
          </a:xfrm>
          <a:prstGeom prst="rect">
            <a:avLst/>
          </a:prstGeom>
          <a:solidFill>
            <a:srgbClr val="0A2A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538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0120" y="34747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processor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373075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Consuming, scoring, and re-publishing in real-time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5212080" cy="566928"/>
          </a:xfrm>
          <a:prstGeom prst="rect">
            <a:avLst/>
          </a:prstGeom>
          <a:solidFill>
            <a:srgbClr val="0D1F3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" y="4197096"/>
            <a:ext cx="365760" cy="365760"/>
          </a:xfrm>
          <a:prstGeom prst="rect">
            <a:avLst/>
          </a:prstGeom>
          <a:solidFill>
            <a:srgbClr val="0A2A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0120" y="41330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clients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0120" y="438912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concurrent dashboard connections verified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760720" y="804672"/>
            <a:ext cx="3063240" cy="4059936"/>
          </a:xfrm>
          <a:prstGeom prst="rect">
            <a:avLst/>
          </a:prstGeom>
          <a:solidFill>
            <a:srgbClr val="1A0808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0" y="804672"/>
            <a:ext cx="3063240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0" y="8503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ALERT SAMPLE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25312" y="126187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766560" y="12618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Emily Zhang, 63y, ICU-B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925312" y="1600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766560" y="16002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925312" y="19385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766560" y="19385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/ 10.0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925312" y="227685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qSOFA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766560" y="227685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925312" y="261518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766560" y="261518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respiratory rate (&gt;=22/min)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766560" y="295351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systolic BP (&lt;=100 mmHg)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766560" y="32918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Altered mentation (GCS=7)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766560" y="363016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lactate (4.9 mmol/L)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766560" y="396849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hypoxia (SpO2=87.4%)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4023360" cy="4160520"/>
          </a:xfrm>
          <a:prstGeom prst="rect">
            <a:avLst/>
          </a:prstGeom>
          <a:solidFill>
            <a:srgbClr val="0D1F38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77240"/>
            <a:ext cx="402336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 Cloud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Infrastructure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64008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3619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48840" y="153619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us-east1 cluster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157984"/>
            <a:ext cx="64008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0299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icu-vitals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48840" y="202996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partitions, JSON Schema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64008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5237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sepsis-alerts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48840" y="252374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partitions, JSON Schema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45536"/>
            <a:ext cx="64008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0175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Registry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48840" y="30175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compat enforced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639312"/>
            <a:ext cx="64008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51129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API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48840" y="351129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delivery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133088"/>
            <a:ext cx="64008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00507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Groups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48840" y="400507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 + Backend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626864"/>
            <a:ext cx="64008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49884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48840" y="4498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mgmt &amp; verification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777240"/>
            <a:ext cx="4023360" cy="4160520"/>
          </a:xfrm>
          <a:prstGeom prst="rect">
            <a:avLst/>
          </a:prstGeom>
          <a:solidFill>
            <a:srgbClr val="0D1F38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777240"/>
            <a:ext cx="4023360" cy="502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8412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937760" y="1170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Stack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37760" y="1664208"/>
            <a:ext cx="64008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153619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37960" y="153619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+ Stream Processor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37760" y="2157984"/>
            <a:ext cx="64008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20299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confluent-kafka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37960" y="202996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Python client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37760" y="2651760"/>
            <a:ext cx="64008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0" y="25237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37960" y="252374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+ WebSockets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937760" y="3145536"/>
            <a:ext cx="64008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30175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537960" y="30175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937760" y="3639312"/>
            <a:ext cx="64008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0" y="351129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37960" y="351129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vitals chart sparklines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937760" y="4133088"/>
            <a:ext cx="64008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20640" y="400507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537960" y="400507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ICU theme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937760" y="4626864"/>
            <a:ext cx="64008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20640" y="449884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qSOFA + SIRS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537960" y="4498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scoring algorithm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What's Next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1965960" cy="1325880"/>
          </a:xfrm>
          <a:prstGeom prst="rect">
            <a:avLst/>
          </a:prstGeom>
          <a:solidFill>
            <a:srgbClr val="0D1F38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31520"/>
            <a:ext cx="1965960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US sepsis deaths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87168" y="731520"/>
            <a:ext cx="1965960" cy="1325880"/>
          </a:xfrm>
          <a:prstGeom prst="rect">
            <a:avLst/>
          </a:prstGeom>
          <a:solidFill>
            <a:srgbClr val="0D1F38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87168" y="731520"/>
            <a:ext cx="196596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87168" y="80467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&lt;100ms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578608" y="144475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to alert latency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08576" y="731520"/>
            <a:ext cx="1965960" cy="1325880"/>
          </a:xfrm>
          <a:prstGeom prst="rect">
            <a:avLst/>
          </a:prstGeom>
          <a:solidFill>
            <a:srgbClr val="0D1F38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08576" y="731520"/>
            <a:ext cx="1965960" cy="502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80467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700016" y="144475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monitored live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729984" y="731520"/>
            <a:ext cx="1965960" cy="1325880"/>
          </a:xfrm>
          <a:prstGeom prst="rect">
            <a:avLst/>
          </a:prstGeom>
          <a:solidFill>
            <a:srgbClr val="0D1F3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9984" y="731520"/>
            <a:ext cx="19659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9984" y="80467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821424" y="144475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 signs tracked / event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2194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Deeper Confluent Integration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2651760"/>
            <a:ext cx="4160520" cy="960120"/>
          </a:xfrm>
          <a:prstGeom prst="rect">
            <a:avLst/>
          </a:prstGeom>
          <a:solidFill>
            <a:srgbClr val="0D1F3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880360"/>
            <a:ext cx="384048" cy="384048"/>
          </a:xfrm>
          <a:prstGeom prst="rect">
            <a:avLst/>
          </a:prstGeom>
          <a:solidFill>
            <a:srgbClr val="0D1F38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24128" y="27432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 Flink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4128" y="3108960"/>
            <a:ext cx="3364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stream processing — detect multi-event deterioration patterns over time windows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36592" y="2651760"/>
            <a:ext cx="4160520" cy="960120"/>
          </a:xfrm>
          <a:prstGeom prst="rect">
            <a:avLst/>
          </a:prstGeom>
          <a:solidFill>
            <a:srgbClr val="0D1F3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73752" y="2880360"/>
            <a:ext cx="384048" cy="384048"/>
          </a:xfrm>
          <a:prstGeom prst="rect">
            <a:avLst/>
          </a:prstGeom>
          <a:solidFill>
            <a:srgbClr val="0D1F38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94960" y="27432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ksqlDB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94960" y="3108960"/>
            <a:ext cx="3364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SQL queries on vitals streams — 'ALERT WHERE lactate &gt; 4 AND spo2 &lt; 90'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749040"/>
            <a:ext cx="4160520" cy="960120"/>
          </a:xfrm>
          <a:prstGeom prst="rect">
            <a:avLst/>
          </a:prstGeom>
          <a:solidFill>
            <a:srgbClr val="0D1F3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977640"/>
            <a:ext cx="384048" cy="384048"/>
          </a:xfrm>
          <a:prstGeom prst="rect">
            <a:avLst/>
          </a:prstGeom>
          <a:solidFill>
            <a:srgbClr val="0D1F38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24128" y="38404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Connect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24128" y="4206240"/>
            <a:ext cx="3364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system connectors for Epic and Cerner — replace synthetic data with real patient feeds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36592" y="3749040"/>
            <a:ext cx="4160520" cy="960120"/>
          </a:xfrm>
          <a:prstGeom prst="rect">
            <a:avLst/>
          </a:prstGeom>
          <a:solidFill>
            <a:srgbClr val="0D1F3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73752" y="3977640"/>
            <a:ext cx="384048" cy="384048"/>
          </a:xfrm>
          <a:prstGeom prst="rect">
            <a:avLst/>
          </a:prstGeom>
          <a:solidFill>
            <a:srgbClr val="0D1F38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73752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94960" y="38404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94960" y="4206240"/>
            <a:ext cx="3364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clinical summaries per patient — 'Maria is showing early septic shock signs'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97280"/>
            <a:ext cx="73152" cy="2926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SepsisGuard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sepsis detection — because every second counts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3337560"/>
            <a:ext cx="2468880" cy="475488"/>
          </a:xfrm>
          <a:prstGeom prst="rect">
            <a:avLst/>
          </a:prstGeom>
          <a:solidFill>
            <a:srgbClr val="0A1E2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3375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Confluent Cloud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3337560"/>
            <a:ext cx="2468880" cy="475488"/>
          </a:xfrm>
          <a:prstGeom prst="rect">
            <a:avLst/>
          </a:prstGeom>
          <a:solidFill>
            <a:srgbClr val="1A0D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33375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3337560"/>
            <a:ext cx="2468880" cy="475488"/>
          </a:xfrm>
          <a:prstGeom prst="rect">
            <a:avLst/>
          </a:prstGeom>
          <a:solidFill>
            <a:srgbClr val="0A1F1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33375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Verified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4114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pkc-619z3.us-east1.gcp.confluent.cloud:9092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SepsisGuard - AI-Powered ICU Monitor</dc:title>
  <dc:subject>PptxGenJS Presentation</dc:subject>
  <dc:creator>PptxGenJS</dc:creator>
  <cp:lastModifiedBy>PptxGenJS</cp:lastModifiedBy>
  <cp:revision>1</cp:revision>
  <dcterms:created xsi:type="dcterms:W3CDTF">2026-05-26T19:29:20Z</dcterms:created>
  <dcterms:modified xsi:type="dcterms:W3CDTF">2026-05-26T19:29:20Z</dcterms:modified>
</cp:coreProperties>
</file>